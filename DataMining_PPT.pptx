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82" r:id="rId4"/>
    <p:sldId id="284" r:id="rId5"/>
    <p:sldId id="259" r:id="rId6"/>
    <p:sldId id="274" r:id="rId7"/>
    <p:sldId id="279" r:id="rId8"/>
    <p:sldId id="299" r:id="rId9"/>
    <p:sldId id="298" r:id="rId10"/>
    <p:sldId id="276" r:id="rId11"/>
    <p:sldId id="269" r:id="rId12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6358" autoAdjust="0"/>
  </p:normalViewPr>
  <p:slideViewPr>
    <p:cSldViewPr>
      <p:cViewPr varScale="1">
        <p:scale>
          <a:sx n="108" d="100"/>
          <a:sy n="108" d="100"/>
        </p:scale>
        <p:origin x="176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534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1076308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DATAMINING 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Review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805893" y="2325506"/>
            <a:ext cx="8751412" cy="376385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sz="2400" dirty="0"/>
              <a:t>Student Engagement Analysis and Achievement Prediction</a:t>
            </a:r>
            <a:endParaRPr lang="en-GB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Santhosh(24B11AI019)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Kalyani (24B11AI044)</a:t>
            </a:r>
          </a:p>
          <a:p>
            <a:pPr marL="3810" algn="ctr">
              <a:spcBef>
                <a:spcPts val="75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Mounika(24B11AI135)</a:t>
            </a:r>
          </a:p>
          <a:p>
            <a:pPr marL="3810" algn="ctr">
              <a:spcBef>
                <a:spcPts val="75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Akshara Hasini(24B11AI146)</a:t>
            </a:r>
          </a:p>
          <a:p>
            <a:pPr marL="3810" algn="ctr">
              <a:spcBef>
                <a:spcPts val="750"/>
              </a:spcBef>
            </a:pPr>
            <a:endParaRPr lang="en-IN" sz="2000" spc="-10" dirty="0">
              <a:solidFill>
                <a:srgbClr val="1737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Artificial Intelligence And Machine Learning</a:t>
            </a: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72251" y="1389091"/>
            <a:ext cx="6107778" cy="48564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&amp; Abstract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Preprocessing (WEKA)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</a:t>
            </a: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AutoNum type="arabicPeriod" startAt="4"/>
              <a:tabLst>
                <a:tab pos="389890" algn="l"/>
              </a:tabLst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 – J48 Decision Tree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spcBef>
                <a:spcPts val="2060"/>
              </a:spcBef>
              <a:buFontTx/>
              <a:buAutoNum type="arabicPeriod" startAt="4"/>
              <a:tabLst>
                <a:tab pos="389890" algn="l"/>
              </a:tabLst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Clustering – K-Means Algorithm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spcBef>
                <a:spcPts val="2060"/>
              </a:spcBef>
              <a:buFontTx/>
              <a:buAutoNum type="arabicPeriod" startAt="4"/>
              <a:tabLst>
                <a:tab pos="389890" algn="l"/>
              </a:tabLst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Results &amp; Insights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spcBef>
                <a:spcPts val="2060"/>
              </a:spcBef>
              <a:buFontTx/>
              <a:buAutoNum type="arabicPeriod" startAt="4"/>
              <a:tabLst>
                <a:tab pos="389890" algn="l"/>
              </a:tabLst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AutoNum type="arabicPeriod" startAt="4"/>
              <a:tabLst>
                <a:tab pos="389890" algn="l"/>
              </a:tabLst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16D68B-8ED2-C6D9-7C39-DAD22B92A3A2}"/>
              </a:ext>
            </a:extLst>
          </p:cNvPr>
          <p:cNvSpPr txBox="1"/>
          <p:nvPr/>
        </p:nvSpPr>
        <p:spPr>
          <a:xfrm>
            <a:off x="457200" y="1106057"/>
            <a:ext cx="9144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student performance analysis is manual, time-consuming, and error-prone. It fails to identify hidden patterns in student engagement data. Hence, an automated system is needed to analyze data and predict student achievement effectively.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student engagement data to understand performance patterns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preprocess and transform the dataset using WEKA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build a classification model using the J48 decision tree algorithm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predict student achievement based on engagement factors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id="{34729387-139D-4FC4-E8C5-BAFE1D53119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7AD16D-13E3-534F-B990-F3535E2321C0}"/>
              </a:ext>
            </a:extLst>
          </p:cNvPr>
          <p:cNvSpPr txBox="1"/>
          <p:nvPr/>
        </p:nvSpPr>
        <p:spPr>
          <a:xfrm>
            <a:off x="2209800" y="457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4E9803B0-F72C-90D0-0168-1AE4A66871BF}"/>
              </a:ext>
            </a:extLst>
          </p:cNvPr>
          <p:cNvGrpSpPr/>
          <p:nvPr/>
        </p:nvGrpSpPr>
        <p:grpSpPr>
          <a:xfrm>
            <a:off x="2020048" y="-133351"/>
            <a:ext cx="6018304" cy="1524000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0B9A7ECE-398F-7283-C8FE-3145DEDBE9D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EE6DD58F-C29C-810A-99B1-68150532449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8188" y="100164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0F7F65E9-BEFF-2F7A-BEB7-5F5BA965408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70FF3B07-2831-00E1-011A-9E064019A6F5}"/>
                </a:ext>
              </a:extLst>
            </p:cNvPr>
            <p:cNvSpPr/>
            <p:nvPr/>
          </p:nvSpPr>
          <p:spPr>
            <a:xfrm>
              <a:off x="2828925" y="28937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l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</a:t>
              </a:r>
              <a:r>
                <a:rPr 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PROJECT OVERVIEW</a:t>
              </a:r>
              <a:endParaRPr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5705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37070F7-17D0-96C8-56D7-1B1A7CB4DFE3}"/>
              </a:ext>
            </a:extLst>
          </p:cNvPr>
          <p:cNvGrpSpPr/>
          <p:nvPr/>
        </p:nvGrpSpPr>
        <p:grpSpPr>
          <a:xfrm>
            <a:off x="2020048" y="238041"/>
            <a:ext cx="6018304" cy="1524000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1E89CE0-9D57-B22F-9B21-A7F03ED851B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04405685-21BB-8EFB-4914-AEFA5F9C080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8188" y="100164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3515D48-E30F-D052-F8B5-1526AD6F4FD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E249A92-8EB8-5004-C5D0-494C7C0583D1}"/>
                </a:ext>
              </a:extLst>
            </p:cNvPr>
            <p:cNvSpPr/>
            <p:nvPr/>
          </p:nvSpPr>
          <p:spPr>
            <a:xfrm>
              <a:off x="2828925" y="28937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l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</a:t>
              </a:r>
              <a:r>
                <a:rPr 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SET DESCRIPTION</a:t>
              </a:r>
              <a:endParaRPr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8" name="object 3">
            <a:extLst>
              <a:ext uri="{FF2B5EF4-FFF2-40B4-BE49-F238E27FC236}">
                <a16:creationId xmlns:a16="http://schemas.microsoft.com/office/drawing/2014/main" id="{4D3F5BA9-2B97-0C1B-9F3B-D75A2279D64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D8D3D9-9F92-87D4-A5F1-27E2321CB31E}"/>
              </a:ext>
            </a:extLst>
          </p:cNvPr>
          <p:cNvSpPr txBox="1"/>
          <p:nvPr/>
        </p:nvSpPr>
        <p:spPr>
          <a:xfrm>
            <a:off x="685800" y="1198816"/>
            <a:ext cx="7646398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dataset contains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engagement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collected for academic analysis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includes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instances and multiple attributes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related to activities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Engagement is measured based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participation, motivation, and time investment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total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are used to predict student achievement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Characteristics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Dataset name: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student_engagement_data.csv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Source: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dataset (for analysis purpose)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Format: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(Comma Separated Values)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Target attribute: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Contains both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 and nominal attributes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Attributes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of activity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experience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investment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of participation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mentorship support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(target variable)</a:t>
            </a:r>
            <a:br>
              <a:rPr lang="en-US" dirty="0"/>
            </a:b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9097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819400" y="75847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055143" y="334988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PIPELINE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10351" y="2617825"/>
            <a:ext cx="7772400" cy="49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3D93E072-622A-FF80-13FA-84DAC7A8A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839" y="1367576"/>
            <a:ext cx="7237504" cy="3781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Import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student_engagement_data.csv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WEKA Explorer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Examine dataset and identify attribute types (numeric / nominal)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Remove unnecessary attributes such as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Handle missing values using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ReplaceMissingValues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Apply mean for numeric and mode for nominal attributes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Convert categorical data into binary using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NominalToBinary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Normalize numeric values to range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1]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target class attribute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Prepare cleaned dataset for classification using J48 algorithm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9B5E3B-A412-D55B-89F7-B325A1C5EDCC}"/>
              </a:ext>
            </a:extLst>
          </p:cNvPr>
          <p:cNvSpPr txBox="1"/>
          <p:nvPr/>
        </p:nvSpPr>
        <p:spPr>
          <a:xfrm>
            <a:off x="2463800" y="3003034"/>
            <a:ext cx="513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286000" y="204311"/>
            <a:ext cx="6172200" cy="1624489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83931" y="243549"/>
              <a:ext cx="4530262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717573" y="587105"/>
            <a:ext cx="4988307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– J48 DECISION TREE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DC825BE-4162-1C1F-7508-5902F3CCCEC6}"/>
              </a:ext>
            </a:extLst>
          </p:cNvPr>
          <p:cNvSpPr txBox="1"/>
          <p:nvPr/>
        </p:nvSpPr>
        <p:spPr>
          <a:xfrm>
            <a:off x="846851" y="1186463"/>
            <a:ext cx="64008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J48 Algorithm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Java implementation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C4.5 decision tree algorithm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Builds tree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engagement attributes as nodes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Works with both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 and categorical data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easy-to-understand and interpretable results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1E3646-9812-E870-B88E-167AD8B5CA86}"/>
              </a:ext>
            </a:extLst>
          </p:cNvPr>
          <p:cNvSpPr txBox="1"/>
          <p:nvPr/>
        </p:nvSpPr>
        <p:spPr>
          <a:xfrm>
            <a:off x="872251" y="3102686"/>
            <a:ext cx="5486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Steps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tab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WEKA Explorer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Select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J48 algorithm under Trees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10-fold cross-validation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evaluation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Run the model to generate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for achievement prediction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6E30CF-BD94-A1BF-448D-717CDC1F0EB8}"/>
              </a:ext>
            </a:extLst>
          </p:cNvPr>
          <p:cNvSpPr txBox="1"/>
          <p:nvPr/>
        </p:nvSpPr>
        <p:spPr>
          <a:xfrm>
            <a:off x="872251" y="5105400"/>
            <a:ext cx="502324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Results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predicts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achievement levels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Important attributes: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participation, motivation, role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decision rules for classification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Helps in deriving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on student performance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5B97-4948-1D36-1564-48F01509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6429C0E-D3D9-C6CC-7313-83F33EFBCF19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5C976F-1965-A32D-B4DC-F0B4E4BC385C}"/>
              </a:ext>
            </a:extLst>
          </p:cNvPr>
          <p:cNvSpPr txBox="1"/>
          <p:nvPr/>
        </p:nvSpPr>
        <p:spPr>
          <a:xfrm rot="10800000" flipV="1">
            <a:off x="708298" y="687630"/>
            <a:ext cx="7408149" cy="784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student engagement dataset is divided into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equal subsets (folds)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Each subset is used as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 one time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remaining subsets are used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the J48 model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process is repeated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times for complete evaluation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Unbiased Evaluation</a:t>
            </a:r>
          </a:p>
          <a:p>
            <a:r>
              <a:rPr lang="en-US" dirty="0"/>
              <a:t>• Each student record is </a:t>
            </a:r>
            <a:r>
              <a:rPr lang="en-US" b="1" dirty="0"/>
              <a:t>evaluated exactly once</a:t>
            </a:r>
            <a:br>
              <a:rPr lang="en-US" dirty="0"/>
            </a:br>
            <a:r>
              <a:rPr lang="en-US" dirty="0"/>
              <a:t>• Ensures </a:t>
            </a:r>
            <a:r>
              <a:rPr lang="en-US" b="1" dirty="0"/>
              <a:t>fair and unbiased performance measurement</a:t>
            </a:r>
            <a:br>
              <a:rPr lang="en-US" dirty="0"/>
            </a:br>
            <a:r>
              <a:rPr lang="en-US" dirty="0"/>
              <a:t>• Prevents duplication of test data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 Prevention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is tested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unseen engagement data in each iteration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Helps in improving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of the model</a:t>
            </a:r>
            <a:br>
              <a:rPr lang="en-US" sz="2000" dirty="0"/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Accuracy</a:t>
            </a:r>
          </a:p>
          <a:p>
            <a:r>
              <a:rPr lang="en-US" dirty="0"/>
              <a:t>• Final accuracy is calculated as </a:t>
            </a:r>
            <a:r>
              <a:rPr lang="en-US" b="1" dirty="0"/>
              <a:t>average of all 10 iterations</a:t>
            </a:r>
            <a:br>
              <a:rPr lang="en-US" dirty="0"/>
            </a:br>
            <a:r>
              <a:rPr lang="en-US" dirty="0"/>
              <a:t>• Provides </a:t>
            </a:r>
            <a:r>
              <a:rPr lang="en-US" b="1" dirty="0"/>
              <a:t>consistent and stable results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Use of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student records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utilized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is used for both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testing efficiently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28B387B-EB3D-FC8A-3A51-DDD2B8696A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9E5D4CBA-792A-9A89-0AB2-CDEC2141B44A}"/>
              </a:ext>
            </a:extLst>
          </p:cNvPr>
          <p:cNvGrpSpPr/>
          <p:nvPr/>
        </p:nvGrpSpPr>
        <p:grpSpPr>
          <a:xfrm>
            <a:off x="2438400" y="33670"/>
            <a:ext cx="5334000" cy="1490330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893ECF15-0F2A-E378-A119-4899CDA0739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6D3693EB-C0F7-2AAF-AD1A-2ED20DB8462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922A5A9A-65E7-AEE5-B256-A00788B756D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4CECB29-2E06-4F61-7349-B253EA095F86}"/>
                </a:ext>
              </a:extLst>
            </p:cNvPr>
            <p:cNvSpPr/>
            <p:nvPr/>
          </p:nvSpPr>
          <p:spPr>
            <a:xfrm>
              <a:off x="2881913" y="278438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10FC6B3-C3A6-D9ED-37DC-E355BAED8EF5}"/>
              </a:ext>
            </a:extLst>
          </p:cNvPr>
          <p:cNvSpPr txBox="1"/>
          <p:nvPr/>
        </p:nvSpPr>
        <p:spPr>
          <a:xfrm>
            <a:off x="3243405" y="395693"/>
            <a:ext cx="3518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10-FOLD CROSS VALIDATION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336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43AB8-E5CD-AEE0-F6FF-BFAF1337A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152400"/>
            <a:ext cx="2528570" cy="723275"/>
          </a:xfrm>
        </p:spPr>
        <p:txBody>
          <a:bodyPr/>
          <a:lstStyle/>
          <a:p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6F5E76-0FCC-C714-C50C-7B149C54524D}"/>
              </a:ext>
            </a:extLst>
          </p:cNvPr>
          <p:cNvSpPr txBox="1"/>
          <p:nvPr/>
        </p:nvSpPr>
        <p:spPr>
          <a:xfrm>
            <a:off x="685800" y="919067"/>
            <a:ext cx="7391400" cy="7762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— K-MEANS ALGORITHM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is an unsupervised learning algorithm used to group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engagement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clusters based on similarity in participation, motivation, and activity patterns.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Results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0 – High Engagement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participation, motivation, and time investment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1 – Moderate Engagement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involvement and moderate activity levels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2 – Low Engagement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participation and minimal involvement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Overview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– Clustering Setup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tab in WEKA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selected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SimpleKMeans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– Set K = 3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number of clusters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to represent engagement levels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– Run Algorithm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clustering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Euclidean distance to calculate centroids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 – Visualization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grouping of students based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patterns across clusters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7592E041-D8DA-C45F-CF0F-7919F99F74C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030" y="152400"/>
            <a:ext cx="1163002" cy="424338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C3E14584-2290-E09F-A7B3-DC0EADE2257C}"/>
              </a:ext>
            </a:extLst>
          </p:cNvPr>
          <p:cNvGrpSpPr/>
          <p:nvPr/>
        </p:nvGrpSpPr>
        <p:grpSpPr>
          <a:xfrm>
            <a:off x="2362200" y="0"/>
            <a:ext cx="5334000" cy="1490330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92A8BB71-CF09-5AF8-AA18-50500B0AF09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5D6A9898-FE3B-2810-F6F3-D398B07C3CB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AF4EE0DD-C92D-8749-A1A8-AA43F0225A7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2548F688-C22C-21A5-D96A-C5F5FB4E8DA0}"/>
                </a:ext>
              </a:extLst>
            </p:cNvPr>
            <p:cNvSpPr/>
            <p:nvPr/>
          </p:nvSpPr>
          <p:spPr>
            <a:xfrm>
              <a:off x="2881913" y="278438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F1B4683-E8A0-226B-9C73-CF4658913AAF}"/>
              </a:ext>
            </a:extLst>
          </p:cNvPr>
          <p:cNvSpPr txBox="1"/>
          <p:nvPr/>
        </p:nvSpPr>
        <p:spPr>
          <a:xfrm>
            <a:off x="2706718" y="364569"/>
            <a:ext cx="45768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– K-MEANS ALGORITHM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758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94848-66F0-A901-9F09-973D68C6C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600" y="3122721"/>
            <a:ext cx="4302140" cy="738664"/>
          </a:xfrm>
        </p:spPr>
        <p:txBody>
          <a:bodyPr/>
          <a:lstStyle/>
          <a:p>
            <a:pPr algn="just"/>
            <a:r>
              <a:rPr lang="en-US" sz="2400" dirty="0">
                <a:solidFill>
                  <a:schemeClr val="bg1"/>
                </a:solidFill>
              </a:rPr>
              <a:t>10-FOLD CROSS VALIDATION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93F05E-6799-CF96-C6FC-7FB432C021F4}"/>
              </a:ext>
            </a:extLst>
          </p:cNvPr>
          <p:cNvSpPr txBox="1"/>
          <p:nvPr/>
        </p:nvSpPr>
        <p:spPr>
          <a:xfrm>
            <a:off x="855670" y="1176089"/>
            <a:ext cx="8347060" cy="6592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INSIGHTS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Factor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Participation level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main factor affecting student achievement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Factors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Motivation, role, and time investment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influence performance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J48 model provides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accuracy with reliable classification results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Rules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Clear rules generated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student achievement levels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INSIGHTS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Engagement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Students show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participation and high involvement in activities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Engagement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Students have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participation and minimal activity involvement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Engagement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Students show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participation with mixed performance patterns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Clusters clearly differentiate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levels of student engagement and performance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467DE386-1594-9B56-6311-AC61F274EF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10" name="object 3">
            <a:extLst>
              <a:ext uri="{FF2B5EF4-FFF2-40B4-BE49-F238E27FC236}">
                <a16:creationId xmlns:a16="http://schemas.microsoft.com/office/drawing/2014/main" id="{4D06C5E6-C298-5CB6-19DE-165CA3F7846C}"/>
              </a:ext>
            </a:extLst>
          </p:cNvPr>
          <p:cNvGrpSpPr/>
          <p:nvPr/>
        </p:nvGrpSpPr>
        <p:grpSpPr>
          <a:xfrm>
            <a:off x="2379670" y="-445"/>
            <a:ext cx="5334000" cy="1490330"/>
            <a:chOff x="2648188" y="47148"/>
            <a:chExt cx="5103904" cy="1198311"/>
          </a:xfrm>
        </p:grpSpPr>
        <p:pic>
          <p:nvPicPr>
            <p:cNvPr id="11" name="object 4">
              <a:extLst>
                <a:ext uri="{FF2B5EF4-FFF2-40B4-BE49-F238E27FC236}">
                  <a16:creationId xmlns:a16="http://schemas.microsoft.com/office/drawing/2014/main" id="{DAF70BB5-13F4-B97C-E181-CFD83677CF8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13" name="object 6">
              <a:extLst>
                <a:ext uri="{FF2B5EF4-FFF2-40B4-BE49-F238E27FC236}">
                  <a16:creationId xmlns:a16="http://schemas.microsoft.com/office/drawing/2014/main" id="{2F403599-4EBA-4267-88CA-45069DB2B88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4" name="object 7">
              <a:extLst>
                <a:ext uri="{FF2B5EF4-FFF2-40B4-BE49-F238E27FC236}">
                  <a16:creationId xmlns:a16="http://schemas.microsoft.com/office/drawing/2014/main" id="{C640707A-7C2C-2120-7D7A-1A1E0AEFACD3}"/>
                </a:ext>
              </a:extLst>
            </p:cNvPr>
            <p:cNvSpPr/>
            <p:nvPr/>
          </p:nvSpPr>
          <p:spPr>
            <a:xfrm>
              <a:off x="2881913" y="278438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D07C561-BD49-8407-B8E0-CB40C6012158}"/>
              </a:ext>
            </a:extLst>
          </p:cNvPr>
          <p:cNvSpPr txBox="1"/>
          <p:nvPr/>
        </p:nvSpPr>
        <p:spPr>
          <a:xfrm>
            <a:off x="3371801" y="347260"/>
            <a:ext cx="3217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KEY INSIGHTS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860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ANALYSIS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0F9FB2-7F79-4EC9-E0B8-E22A53120E53}"/>
              </a:ext>
            </a:extLst>
          </p:cNvPr>
          <p:cNvSpPr txBox="1"/>
          <p:nvPr/>
        </p:nvSpPr>
        <p:spPr>
          <a:xfrm>
            <a:off x="685800" y="1202796"/>
            <a:ext cx="92202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 engagement dataset was successfully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 using WEKA filters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(Remove,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ReplaceMissingValues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NominalToBinary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Normalize)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J48 Decision Tree classifier was applied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student achievement based on engagement factors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Important factors such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participation, motivation, role, and time investment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significantly influence performance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K-Means clustering grouped students into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high, moderate, and low engagement levels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model achieved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27% accuracy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scope for improvement with better data and advanced algorithms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Data-driven insights help educators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student behavior and improve academic outcomes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can be extended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analysis and advanced predictive models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716E552F-B5C6-7AF6-82FA-4FC538318837}"/>
              </a:ext>
            </a:extLst>
          </p:cNvPr>
          <p:cNvGrpSpPr/>
          <p:nvPr/>
        </p:nvGrpSpPr>
        <p:grpSpPr>
          <a:xfrm>
            <a:off x="2362200" y="0"/>
            <a:ext cx="5334000" cy="1490330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F2E05D2E-2253-D47B-4DEF-F0D7234DFC7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90AFE534-77C2-EDDB-47DC-585BFDE6763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FB04A512-99F4-654B-B36A-8E31DA4B3BB1}"/>
                </a:ext>
              </a:extLst>
            </p:cNvPr>
            <p:cNvSpPr/>
            <p:nvPr/>
          </p:nvSpPr>
          <p:spPr>
            <a:xfrm>
              <a:off x="2881913" y="278438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143EF4B-A0C0-14FF-29C8-C630F7EE6B34}"/>
              </a:ext>
            </a:extLst>
          </p:cNvPr>
          <p:cNvSpPr txBox="1"/>
          <p:nvPr/>
        </p:nvSpPr>
        <p:spPr>
          <a:xfrm>
            <a:off x="4078888" y="336272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256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2893</TotalTime>
  <Words>1009</Words>
  <Application>Microsoft Office PowerPoint</Application>
  <PresentationFormat>Custom</PresentationFormat>
  <Paragraphs>101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</vt:lpstr>
      <vt:lpstr>Palatino Linotype</vt:lpstr>
      <vt:lpstr>Times New Roman</vt:lpstr>
      <vt:lpstr>Office Theme</vt:lpstr>
      <vt:lpstr>DATAMINING  Project Third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10-FOLD CROSS VALIDATION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TEJA ARIGELA</cp:lastModifiedBy>
  <cp:revision>60</cp:revision>
  <cp:lastPrinted>2025-10-14T18:21:49Z</cp:lastPrinted>
  <dcterms:created xsi:type="dcterms:W3CDTF">2025-10-10T08:28:06Z</dcterms:created>
  <dcterms:modified xsi:type="dcterms:W3CDTF">2026-04-03T13:10:12Z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